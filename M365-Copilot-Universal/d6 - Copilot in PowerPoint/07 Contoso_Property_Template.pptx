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38100"/>
          </a:xfrm>
          <a:prstGeom prst="rect">
            <a:avLst/>
          </a:prstGeom>
          <a:solidFill>
            <a:srgbClr val="C49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4994E"/>
                </a:solidFill>
                <a:latin typeface="Calibri"/>
              </a:rPr>
              <a:t>CONTOSO PROPERTY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Township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[Title Goes Here]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C4994E"/>
                </a:solidFill>
                <a:latin typeface="Calibri"/>
              </a:rPr>
              <a:t>[Subtitle · Month FY26]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Prepared by: General Manager · Township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994E"/>
                </a:solidFill>
                <a:latin typeface="Calibri"/>
              </a:rPr>
              <a:t>For: Operating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C49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CONTOSO PROPERTY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C4994E"/>
                </a:solidFill>
                <a:latin typeface="Calibri"/>
              </a:rPr>
              <a:t>Section ·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OPERATING COMMITTEE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42A4C"/>
                </a:solidFill>
                <a:latin typeface="Calibri"/>
              </a:rPr>
              <a:t>[Action title — the message of this slide]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0" cy="38100"/>
          </a:xfrm>
          <a:prstGeom prst="rect">
            <a:avLst/>
          </a:prstGeom>
          <a:solidFill>
            <a:srgbClr val="C49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• [Body bullet one]
• [Body bullet two]
• [Body bullet three]
• [Body bullet four]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Contoso Property Group · Confidential · Management 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61111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C4994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C49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CONTOSO PROPERTY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C4994E"/>
                </a:solidFill>
                <a:latin typeface="Calibri"/>
              </a:rPr>
              <a:t>Three-column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OPERATING COMMITTEE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42A4C"/>
                </a:solidFill>
                <a:latin typeface="Calibri"/>
              </a:rPr>
              <a:t>[Action title — the message of this slide]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749039" cy="41148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COLUMN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3749039" cy="41148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3383279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[Heading]
• Bullet one
• Bullet two
• Bullet three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399" y="1645920"/>
            <a:ext cx="3749039" cy="41148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71907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COLUMN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399" y="2057400"/>
            <a:ext cx="3749039" cy="41148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1999" y="2194560"/>
            <a:ext cx="3383279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[Heading]
• Bullet one
• Bullet two
• Bullet three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8" y="1645920"/>
            <a:ext cx="3749039" cy="41148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8" y="171907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COLUMN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8" y="2057400"/>
            <a:ext cx="3749039" cy="41148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198" y="2194560"/>
            <a:ext cx="3383279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[Heading]
• Bullet one
• Bullet two
• Bullet three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Contoso Property Group · Confidential · Management Paper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61111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C4994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C49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CONTOSO PROPERTY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C4994E"/>
                </a:solidFill>
                <a:latin typeface="Calibri"/>
              </a:rPr>
              <a:t>RAG performance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OPERATING COMMITTEE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42A4C"/>
                </a:solidFill>
                <a:latin typeface="Calibri"/>
              </a:rPr>
              <a:t>[Action title — performance vs target]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4592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7315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FY26 Target</a:t>
                      </a:r>
                    </a:p>
                  </a:txBody>
                  <a:tcPr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YTD Actual</a:t>
                      </a:r>
                    </a:p>
                  </a:txBody>
                  <a:tcPr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RAG</a:t>
                      </a:r>
                    </a:p>
                  </a:txBody>
                  <a:tcPr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Commentary</a:t>
                      </a:r>
                    </a:p>
                  </a:txBody>
                  <a:tcPr>
                    <a:solidFill>
                      <a:srgbClr val="142A4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Contoso Property Group · Confidential · Management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1111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C4994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50800"/>
          </a:xfrm>
          <a:prstGeom prst="rect">
            <a:avLst/>
          </a:prstGeom>
          <a:solidFill>
            <a:srgbClr val="C49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[Section divider]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C4994E"/>
                </a:solidFill>
                <a:latin typeface="Calibri"/>
              </a:rPr>
              <a:t>[Subtitle of this section]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C49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CONTOSO PROPERTY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C4994E"/>
                </a:solidFill>
                <a:latin typeface="Calibri"/>
              </a:rPr>
              <a:t>Asks of the COO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OPERATING COMMITTEE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42A4C"/>
                </a:solidFill>
                <a:latin typeface="Calibri"/>
              </a:rPr>
              <a:t>[Action title — what I need from the Operating Committee]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640080" cy="914400"/>
          </a:xfrm>
          <a:prstGeom prst="rect">
            <a:avLst/>
          </a:prstGeom>
          <a:solidFill>
            <a:srgbClr val="C49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828800"/>
            <a:ext cx="10515600" cy="9144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965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A4C"/>
                </a:solidFill>
                <a:latin typeface="Calibri"/>
              </a:rPr>
              <a:t>[Decision request]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86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[Owner · Date · Why now]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640080" cy="914400"/>
          </a:xfrm>
          <a:prstGeom prst="rect">
            <a:avLst/>
          </a:prstGeom>
          <a:solidFill>
            <a:srgbClr val="C49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3108960"/>
            <a:ext cx="10515600" cy="9144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246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A4C"/>
                </a:solidFill>
                <a:latin typeface="Calibri"/>
              </a:rPr>
              <a:t>[Decision request]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66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[Owner · Date · Why now]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640080" cy="914400"/>
          </a:xfrm>
          <a:prstGeom prst="rect">
            <a:avLst/>
          </a:prstGeom>
          <a:solidFill>
            <a:srgbClr val="C49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4389120"/>
            <a:ext cx="10515600" cy="9144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526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A4C"/>
                </a:solidFill>
                <a:latin typeface="Calibri"/>
              </a:rPr>
              <a:t>[Decision request]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46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[Owner · Date · Why now]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Contoso Property Group · Confidential · Management Paper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61111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C4994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