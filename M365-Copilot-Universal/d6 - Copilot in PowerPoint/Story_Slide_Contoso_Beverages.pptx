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64748B"/>
                </a:solidFill>
                <a:latin typeface="Calibri"/>
              </a:rPr>
              <a:t>Contoso Beverages &amp; Dairy · GM Copilot Immersion  ·  Beverage &amp; Dairy Manufacturing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502920"/>
            <a:ext cx="11475720" cy="1783080"/>
          </a:xfrm>
          <a:prstGeom prst="rect">
            <a:avLst/>
          </a:prstGeom>
          <a:solidFill>
            <a:srgbClr val="0F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502920"/>
            <a:ext cx="11475720" cy="640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FBBF24"/>
                </a:solidFill>
                <a:latin typeface="Calibri"/>
              </a:rPr>
              <a:t>MICROSOFT 365 COPILOT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36576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Calibri"/>
              </a:rPr>
              <a:t>AI Assistant</a:t>
            </a:r>
          </a:p>
          <a:p>
            <a:r>
              <a:rPr sz="2200" b="1" i="0">
                <a:solidFill>
                  <a:srgbClr val="FFFFFF"/>
                </a:solidFill>
                <a:latin typeface="Calibri"/>
              </a:rPr>
              <a:t>to AI Doer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 i="0">
                <a:solidFill>
                  <a:srgbClr val="FBBF24"/>
                </a:solidFill>
                <a:latin typeface="Calibri"/>
              </a:rPr>
              <a:t>PERSONA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92808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Calibri"/>
              </a:rPr>
              <a:t>Encik Daniel Hashim</a:t>
            </a:r>
          </a:p>
          <a:p>
            <a:r>
              <a:rPr sz="1000" b="0" i="0">
                <a:solidFill>
                  <a:srgbClr val="CBD5E1"/>
                </a:solidFill>
                <a:latin typeface="Calibri"/>
              </a:rPr>
              <a:t>Head of Department · Operations &amp; Trade · Contoso Beverages &amp; Dairy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0832" y="685800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FBBF24"/>
                </a:solidFill>
                <a:latin typeface="Calibri"/>
              </a:rPr>
              <a:t>THE 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70832" y="914400"/>
            <a:ext cx="365760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CBD5E1"/>
                </a:solidFill>
                <a:latin typeface="Calibri"/>
              </a:rPr>
              <a:t>Monthly HOD review for the CEO: case-volumes by category, modern-trade and general-trade coverage, sugar-tax (SSB) compliance, JAKIM halal status, and the FY26 isotonic line-extension launch update.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93024" y="667512"/>
            <a:ext cx="3611880" cy="1463040"/>
          </a:xfrm>
          <a:prstGeom prst="rect">
            <a:avLst/>
          </a:prstGeom>
          <a:solidFill>
            <a:srgbClr val="1E2C4A"/>
          </a:solidFill>
          <a:ln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57616" y="777240"/>
            <a:ext cx="328269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FBBF24"/>
                </a:solidFill>
                <a:latin typeface="Calibri"/>
              </a:rPr>
              <a:t>THE PUNCHLINE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7616" y="1005840"/>
            <a:ext cx="3282696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1">
                <a:solidFill>
                  <a:srgbClr val="FFFFFF"/>
                </a:solidFill>
                <a:latin typeface="Calibri"/>
              </a:rPr>
              <a:t>One workday.</a:t>
            </a:r>
          </a:p>
          <a:p>
            <a:r>
              <a:rPr sz="1400" b="1" i="1">
                <a:solidFill>
                  <a:srgbClr val="FFFFFF"/>
                </a:solidFill>
                <a:latin typeface="Calibri"/>
              </a:rPr>
              <a:t>Ten Copilot moments.</a:t>
            </a:r>
          </a:p>
          <a:p>
            <a:r>
              <a:rPr sz="1300" b="1" i="1">
                <a:solidFill>
                  <a:srgbClr val="FFFFFF"/>
                </a:solidFill>
                <a:latin typeface="Calibri"/>
              </a:rPr>
              <a:t>From morning briefing</a:t>
            </a:r>
          </a:p>
          <a:p>
            <a:r>
              <a:rPr sz="1300" b="1" i="1">
                <a:solidFill>
                  <a:srgbClr val="FFFFFF"/>
                </a:solidFill>
                <a:latin typeface="Calibri"/>
              </a:rPr>
              <a:t>to a live HTML dashboard.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377440"/>
            <a:ext cx="11475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1A202C"/>
                </a:solidFill>
                <a:latin typeface="Calibri"/>
              </a:rPr>
              <a:t>Ten Copilot moments across one workday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743200"/>
            <a:ext cx="2782747" cy="1243584"/>
          </a:xfrm>
          <a:prstGeom prst="rect">
            <a:avLst/>
          </a:prstGeom>
          <a:solidFill>
            <a:srgbClr val="F8FAFC"/>
          </a:solidFill>
          <a:ln>
            <a:solidFill>
              <a:srgbClr val="D9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2743200"/>
            <a:ext cx="2782747" cy="36576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788920"/>
            <a:ext cx="2599867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alibri"/>
              </a:rPr>
              <a:t>01   Daily Briefing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" y="3182112"/>
            <a:ext cx="2563291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1A202C"/>
                </a:solidFill>
                <a:latin typeface="Calibri"/>
              </a:rPr>
              <a:t>Morning brief in 3 minutes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" y="3493008"/>
            <a:ext cx="256329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1">
                <a:solidFill>
                  <a:srgbClr val="0E7490"/>
                </a:solidFill>
                <a:latin typeface="Calibri"/>
              </a:rPr>
              <a:t>Researcher · Critique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" y="3749040"/>
            <a:ext cx="256329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4748B"/>
                </a:solidFill>
                <a:latin typeface="Calibri"/>
              </a:rPr>
              <a:t>Researcher (Critique) drafts a market &amp; peer scan and self-reviews sources before delivering one polished brief.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58235" y="2743200"/>
            <a:ext cx="2782747" cy="1243584"/>
          </a:xfrm>
          <a:prstGeom prst="rect">
            <a:avLst/>
          </a:prstGeom>
          <a:solidFill>
            <a:srgbClr val="F8FAFC"/>
          </a:solidFill>
          <a:ln>
            <a:solidFill>
              <a:srgbClr val="D9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58235" y="2743200"/>
            <a:ext cx="2782747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49675" y="2788920"/>
            <a:ext cx="2599867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alibri"/>
              </a:rPr>
              <a:t>02   Quarter Closing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67963" y="3182112"/>
            <a:ext cx="2563291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1A202C"/>
                </a:solidFill>
                <a:latin typeface="Calibri"/>
              </a:rPr>
              <a:t>Multi-step quarter-close prep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67963" y="3493008"/>
            <a:ext cx="256329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1">
                <a:solidFill>
                  <a:srgbClr val="0F766E"/>
                </a:solidFill>
                <a:latin typeface="Calibri"/>
              </a:rPr>
              <a:t>Cowork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67963" y="3749040"/>
            <a:ext cx="256329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4748B"/>
                </a:solidFill>
                <a:latin typeface="Calibri"/>
              </a:rPr>
              <a:t>Cowork pulls KPIs, the strategic memo and brand pack into a quarter-closing pre-read in one prompt.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50711" y="2743200"/>
            <a:ext cx="2782747" cy="1243584"/>
          </a:xfrm>
          <a:prstGeom prst="rect">
            <a:avLst/>
          </a:prstGeom>
          <a:solidFill>
            <a:srgbClr val="F8FAFC"/>
          </a:solidFill>
          <a:ln>
            <a:solidFill>
              <a:srgbClr val="D9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50711" y="2743200"/>
            <a:ext cx="2782747" cy="365760"/>
          </a:xfrm>
          <a:prstGeom prst="rect">
            <a:avLst/>
          </a:prstGeom>
          <a:solidFill>
            <a:srgbClr val="155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42151" y="2788920"/>
            <a:ext cx="2599867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alibri"/>
              </a:rPr>
              <a:t>03   Market Intelligence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0439" y="3182112"/>
            <a:ext cx="2563291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1A202C"/>
                </a:solidFill>
                <a:latin typeface="Calibri"/>
              </a:rPr>
              <a:t>Critique &amp; Model Council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0439" y="3493008"/>
            <a:ext cx="256329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1">
                <a:solidFill>
                  <a:srgbClr val="155E75"/>
                </a:solidFill>
                <a:latin typeface="Calibri"/>
              </a:rPr>
              <a:t>Researcher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0439" y="3749040"/>
            <a:ext cx="256329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4748B"/>
                </a:solidFill>
                <a:latin typeface="Calibri"/>
              </a:rPr>
              <a:t>Run Critique + Model Council on the same question — see two answers compared side-by-side, pick the stronger.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43187" y="2743200"/>
            <a:ext cx="2782747" cy="1243584"/>
          </a:xfrm>
          <a:prstGeom prst="rect">
            <a:avLst/>
          </a:prstGeom>
          <a:solidFill>
            <a:srgbClr val="F8FAFC"/>
          </a:solidFill>
          <a:ln>
            <a:solidFill>
              <a:srgbClr val="D9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043187" y="2743200"/>
            <a:ext cx="2782747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34627" y="2788920"/>
            <a:ext cx="2599867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alibri"/>
              </a:rPr>
              <a:t>04   PowerPoint Deck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52915" y="3182112"/>
            <a:ext cx="2563291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1A202C"/>
                </a:solidFill>
                <a:latin typeface="Calibri"/>
              </a:rPr>
              <a:t>BCG / McKinsey-style draft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52915" y="3493008"/>
            <a:ext cx="256329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1">
                <a:solidFill>
                  <a:srgbClr val="1E3A5F"/>
                </a:solidFill>
                <a:latin typeface="Calibri"/>
              </a:rPr>
              <a:t>PowerPoint Copilot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52915" y="3749040"/>
            <a:ext cx="256329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4748B"/>
                </a:solidFill>
                <a:latin typeface="Calibri"/>
              </a:rPr>
              <a:t>Copilot in PowerPoint drafts an 8-slide consultancy-style deck from the memo and KPI workbook.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4096512"/>
            <a:ext cx="2782747" cy="1243584"/>
          </a:xfrm>
          <a:prstGeom prst="rect">
            <a:avLst/>
          </a:prstGeom>
          <a:solidFill>
            <a:srgbClr val="F8FAFC"/>
          </a:solidFill>
          <a:ln>
            <a:solidFill>
              <a:srgbClr val="D9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65760" y="4096512"/>
            <a:ext cx="2782747" cy="365760"/>
          </a:xfrm>
          <a:prstGeom prst="rect">
            <a:avLst/>
          </a:prstGeom>
          <a:solidFill>
            <a:srgbClr val="8B2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4142232"/>
            <a:ext cx="2599867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alibri"/>
              </a:rPr>
              <a:t>05   Visual Infographic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5488" y="4535424"/>
            <a:ext cx="2563291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1A202C"/>
                </a:solidFill>
                <a:latin typeface="Calibri"/>
              </a:rPr>
              <a:t>Branded one-page poster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5488" y="4846320"/>
            <a:ext cx="256329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1">
                <a:solidFill>
                  <a:srgbClr val="8B2635"/>
                </a:solidFill>
                <a:latin typeface="Calibri"/>
              </a:rPr>
              <a:t>Copilot Create (Designer)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5488" y="5102352"/>
            <a:ext cx="256329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4748B"/>
                </a:solidFill>
                <a:latin typeface="Calibri"/>
              </a:rPr>
              <a:t>Copilot Create generates a brand-aligned infographic poster from a single prompt — no design tool.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58235" y="4096512"/>
            <a:ext cx="2782747" cy="1243584"/>
          </a:xfrm>
          <a:prstGeom prst="rect">
            <a:avLst/>
          </a:prstGeom>
          <a:solidFill>
            <a:srgbClr val="F8FAFC"/>
          </a:solidFill>
          <a:ln>
            <a:solidFill>
              <a:srgbClr val="D9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258235" y="4096512"/>
            <a:ext cx="2782747" cy="365760"/>
          </a:xfrm>
          <a:prstGeom prst="rect">
            <a:avLst/>
          </a:prstGeom>
          <a:solidFill>
            <a:srgbClr val="7C2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349675" y="4142232"/>
            <a:ext cx="2599867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alibri"/>
              </a:rPr>
              <a:t>06   Teams Recap → Minutes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67963" y="4535424"/>
            <a:ext cx="2563291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1A202C"/>
                </a:solidFill>
                <a:latin typeface="Calibri"/>
              </a:rPr>
              <a:t>Catch up on a missed meeting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67963" y="4846320"/>
            <a:ext cx="256329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1">
                <a:solidFill>
                  <a:srgbClr val="7C2D12"/>
                </a:solidFill>
                <a:latin typeface="Calibri"/>
              </a:rPr>
              <a:t>Teams · Word Copilot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67963" y="5102352"/>
            <a:ext cx="256329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4748B"/>
                </a:solidFill>
                <a:latin typeface="Calibri"/>
              </a:rPr>
              <a:t>Teams Recap summarises a missed meeting; Copilot in Word turns the transcript into formal minutes.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50711" y="4096512"/>
            <a:ext cx="2782747" cy="1243584"/>
          </a:xfrm>
          <a:prstGeom prst="rect">
            <a:avLst/>
          </a:prstGeom>
          <a:solidFill>
            <a:srgbClr val="F8FAFC"/>
          </a:solidFill>
          <a:ln>
            <a:solidFill>
              <a:srgbClr val="D9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150711" y="4096512"/>
            <a:ext cx="2782747" cy="36576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42151" y="4142232"/>
            <a:ext cx="2599867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alibri"/>
              </a:rPr>
              <a:t>07   Excel Power Hour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60439" y="4535424"/>
            <a:ext cx="2563291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1A202C"/>
                </a:solidFill>
                <a:latin typeface="Calibri"/>
              </a:rPr>
              <a:t>Chat · Edit · Plan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60439" y="4846320"/>
            <a:ext cx="256329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1">
                <a:solidFill>
                  <a:srgbClr val="14532D"/>
                </a:solidFill>
                <a:latin typeface="Calibri"/>
              </a:rPr>
              <a:t>Copilot in Excel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60439" y="5102352"/>
            <a:ext cx="256329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4748B"/>
                </a:solidFill>
                <a:latin typeface="Calibri"/>
              </a:rPr>
              <a:t>Insights from your KPI workbook, surgical Edit changes, and multi-step Plan — all on one file.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043187" y="4096512"/>
            <a:ext cx="2782747" cy="1243584"/>
          </a:xfrm>
          <a:prstGeom prst="rect">
            <a:avLst/>
          </a:prstGeom>
          <a:solidFill>
            <a:srgbClr val="F8FAFC"/>
          </a:solidFill>
          <a:ln>
            <a:solidFill>
              <a:srgbClr val="D9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043187" y="4096512"/>
            <a:ext cx="2782747" cy="365760"/>
          </a:xfrm>
          <a:prstGeom prst="rect">
            <a:avLst/>
          </a:prstGeom>
          <a:solidFill>
            <a:srgbClr val="365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134627" y="4142232"/>
            <a:ext cx="2599867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alibri"/>
              </a:rPr>
              <a:t>08   Analyst Agent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52915" y="4535424"/>
            <a:ext cx="2563291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1A202C"/>
                </a:solidFill>
                <a:latin typeface="Calibri"/>
              </a:rPr>
              <a:t>Multiple perspectives, same data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52915" y="4846320"/>
            <a:ext cx="256329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1">
                <a:solidFill>
                  <a:srgbClr val="365314"/>
                </a:solidFill>
                <a:latin typeface="Calibri"/>
              </a:rPr>
              <a:t>Analyst Agent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52915" y="5102352"/>
            <a:ext cx="256329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4748B"/>
                </a:solidFill>
                <a:latin typeface="Calibri"/>
              </a:rPr>
              <a:t>Reasons across the data as a CFO, COO and Strategy Director — three angles, one dataset.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65760" y="5449824"/>
            <a:ext cx="2782747" cy="1243584"/>
          </a:xfrm>
          <a:prstGeom prst="rect">
            <a:avLst/>
          </a:prstGeom>
          <a:solidFill>
            <a:srgbClr val="F8FAFC"/>
          </a:solidFill>
          <a:ln>
            <a:solidFill>
              <a:srgbClr val="D9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65760" y="5449824"/>
            <a:ext cx="2782747" cy="365760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57200" y="5495544"/>
            <a:ext cx="2599867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alibri"/>
              </a:rPr>
              <a:t>09   Personalised Cascade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75488" y="5888736"/>
            <a:ext cx="2563291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1A202C"/>
                </a:solidFill>
                <a:latin typeface="Calibri"/>
              </a:rPr>
              <a:t>14 letters, one prompt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75488" y="6199632"/>
            <a:ext cx="256329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1">
                <a:solidFill>
                  <a:srgbClr val="4C1D95"/>
                </a:solidFill>
                <a:latin typeface="Calibri"/>
              </a:rPr>
              <a:t>Cowork · Outlook drafts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75488" y="6455664"/>
            <a:ext cx="256329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4748B"/>
                </a:solidFill>
                <a:latin typeface="Calibri"/>
              </a:rPr>
              <a:t>One Cowork prompt produces 14 personalised letters from the GM, each tuned to that person's data.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258235" y="5449824"/>
            <a:ext cx="2782747" cy="1243584"/>
          </a:xfrm>
          <a:prstGeom prst="rect">
            <a:avLst/>
          </a:prstGeom>
          <a:solidFill>
            <a:srgbClr val="F8FAFC"/>
          </a:solidFill>
          <a:ln>
            <a:solidFill>
              <a:srgbClr val="D9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258235" y="5449824"/>
            <a:ext cx="2782747" cy="36576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349675" y="5495544"/>
            <a:ext cx="2599867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alibri"/>
              </a:rPr>
              <a:t>10   CV Screening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367963" y="5888736"/>
            <a:ext cx="2563291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1A202C"/>
                </a:solidFill>
                <a:latin typeface="Calibri"/>
              </a:rPr>
              <a:t>12 CVs from SharePoint, ranked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367963" y="6199632"/>
            <a:ext cx="256329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1">
                <a:solidFill>
                  <a:srgbClr val="5B21B6"/>
                </a:solidFill>
                <a:latin typeface="Calibri"/>
              </a:rPr>
              <a:t>Cowork · SharePoint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367963" y="6455664"/>
            <a:ext cx="256329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4748B"/>
                </a:solidFill>
                <a:latin typeface="Calibri"/>
              </a:rPr>
              <a:t>Point Cowork at a SharePoint folder of 12 CVs and get a ranked shortlist with strengths and gaps.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150711" y="5449824"/>
            <a:ext cx="2782747" cy="1243584"/>
          </a:xfrm>
          <a:prstGeom prst="rect">
            <a:avLst/>
          </a:prstGeom>
          <a:solidFill>
            <a:srgbClr val="F8FAFC"/>
          </a:solidFill>
          <a:ln>
            <a:solidFill>
              <a:srgbClr val="D9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150711" y="5449824"/>
            <a:ext cx="2782747" cy="36576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242151" y="5495544"/>
            <a:ext cx="2599867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alibri"/>
              </a:rPr>
              <a:t>＋   Extras + Power Move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260439" y="5888736"/>
            <a:ext cx="2563291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1A202C"/>
                </a:solidFill>
                <a:latin typeface="Calibri"/>
              </a:rPr>
              <a:t>Outlook · Word · industry use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260439" y="6199632"/>
            <a:ext cx="256329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1">
                <a:solidFill>
                  <a:srgbClr val="475569"/>
                </a:solidFill>
                <a:latin typeface="Calibri"/>
              </a:rPr>
              <a:t>If time allows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60439" y="6455664"/>
            <a:ext cx="256329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4748B"/>
                </a:solidFill>
                <a:latin typeface="Calibri"/>
              </a:rPr>
              <a:t>Lightning round: real Outlook thread catch-up, executive reply draft, long-doc Q&amp;A, industry power move.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043187" y="5449824"/>
            <a:ext cx="2782747" cy="1243584"/>
          </a:xfrm>
          <a:prstGeom prst="rect">
            <a:avLst/>
          </a:prstGeom>
          <a:solidFill>
            <a:srgbClr val="FEF9C3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171203" y="5596128"/>
            <a:ext cx="25267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78350F"/>
                </a:solidFill>
                <a:latin typeface="Calibri"/>
              </a:rPr>
              <a:t>THE VALUE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171203" y="5907024"/>
            <a:ext cx="2526715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78350F"/>
                </a:solidFill>
                <a:latin typeface="Calibri"/>
              </a:rPr>
              <a:t>One GM. One workday.
From morning briefing to a live HTML dashboard — without leaving Microsoft 365.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