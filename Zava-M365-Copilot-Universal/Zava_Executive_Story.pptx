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FFFFFF"/>
                </a:solidFill>
              </a:defRPr>
            </a:pPr>
            <a:r>
              <a:t>Zava Rush Order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From customer signal to executive commitment with Microsoft 365 Copilot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43200"/>
            <a:ext cx="3246120" cy="1463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5351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FFFFFF"/>
                </a:solidFill>
              </a:defRPr>
            </a:pPr>
            <a:r>
              <a:t>20k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smart launch shirts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2743200"/>
            <a:ext cx="3246120" cy="14630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95351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FFFFFF"/>
                </a:solidFill>
              </a:defRPr>
            </a:pPr>
            <a:r>
              <a:t>14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calendar 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83879" y="2743200"/>
            <a:ext cx="3246120" cy="1463040"/>
          </a:xfrm>
          <a:prstGeom prst="rect">
            <a:avLst/>
          </a:prstGeom>
          <a:solidFill>
            <a:srgbClr val="B1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95351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FFFFFF"/>
                </a:solidFill>
              </a:defRPr>
            </a:pPr>
            <a:r>
              <a:t>EUR 25.80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pricefloor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242424"/>
                </a:solidFill>
              </a:defRPr>
            </a:pPr>
            <a:r>
              <a:t>The decision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42424"/>
                </a:solidFill>
              </a:defRPr>
            </a:pPr>
            <a:r>
              <a:t>Copilot connects context, analysis, communication, and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920240"/>
            <a:ext cx="24231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920240"/>
            <a:ext cx="73152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66544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42424"/>
                </a:solidFill>
              </a:defRPr>
            </a:pPr>
            <a:r>
              <a:t>Signal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Email, launch brief, meeting transcript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920240"/>
            <a:ext cx="24231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920240"/>
            <a:ext cx="73152" cy="182880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2066544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42424"/>
                </a:solidFill>
              </a:defRPr>
            </a:pPr>
            <a:r>
              <a:t>Evidence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Inventory, capacity, pricefloor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20240"/>
            <a:ext cx="24231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20240"/>
            <a:ext cx="73152" cy="18288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066544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42424"/>
                </a:solidFill>
              </a:defRPr>
            </a:pPr>
            <a:r>
              <a:t>Commitment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Customer response and ops 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920240"/>
            <a:ext cx="24231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0" y="1920240"/>
            <a:ext cx="73152" cy="1828800"/>
          </a:xfrm>
          <a:prstGeom prst="rect">
            <a:avLst/>
          </a:prstGeom>
          <a:solidFill>
            <a:srgbClr val="B1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6608" y="2066544"/>
            <a:ext cx="2103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42424"/>
                </a:solidFill>
              </a:defRPr>
            </a:pPr>
            <a:r>
              <a:t>Scale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Order Desk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242424"/>
                </a:solidFill>
              </a:defRPr>
            </a:pPr>
            <a:r>
              <a:t>Feasibility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42424"/>
                </a:solidFill>
              </a:defRPr>
            </a:pPr>
            <a:r>
              <a:t>Enough total supply, but White XL/XXL and NFC activation drive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3474720" cy="1645920"/>
          </a:xfrm>
          <a:prstGeom prst="rect">
            <a:avLst/>
          </a:prstGeom>
          <a:solidFill>
            <a:srgbClr val="F8FC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73152" cy="1645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92224"/>
            <a:ext cx="31546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42424"/>
                </a:solidFill>
              </a:defRPr>
            </a:pPr>
            <a:r>
              <a:t>Supply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Available inventory plus 14-day capacity can cover requested volume with a controlled mix.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645920"/>
            <a:ext cx="3474720" cy="1645920"/>
          </a:xfrm>
          <a:prstGeom prst="rect">
            <a:avLst/>
          </a:prstGeom>
          <a:solidFill>
            <a:srgbClr val="FAFF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645920"/>
            <a:ext cx="73152" cy="164592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792224"/>
            <a:ext cx="31546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42424"/>
                </a:solidFill>
              </a:defRPr>
            </a:pPr>
            <a:r>
              <a:t>Margin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Average price must stay at or above EUR 25.80 to protect the 32% margin guardrail.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3474720" cy="1645920"/>
          </a:xfrm>
          <a:prstGeom prst="rect">
            <a:avLst/>
          </a:prstGeom>
          <a:solidFill>
            <a:srgbClr val="FFFAF0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645920"/>
            <a:ext cx="73152" cy="164592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1792224"/>
            <a:ext cx="31546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42424"/>
                </a:solidFill>
              </a:defRPr>
            </a:pPr>
            <a:r>
              <a:t>Risk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White XL/XXL, Singapore freight, and NFC activation need explicit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242424"/>
                </a:solidFill>
              </a:defRPr>
            </a:pPr>
            <a:r>
              <a:t>Four-hour execution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42424"/>
                </a:solidFill>
              </a:defRPr>
            </a:pPr>
            <a:r>
              <a:t>Every dependency gets an owner before the 17:00 customer deadline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828800"/>
            <a:ext cx="1874519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73152" cy="1920240"/>
          </a:xfrm>
          <a:prstGeom prst="rect">
            <a:avLst/>
          </a:prstGeom>
          <a:solidFill>
            <a:srgbClr val="B1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75104"/>
            <a:ext cx="155447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42424"/>
                </a:solidFill>
              </a:defRPr>
            </a:pPr>
            <a:r>
              <a:t>Capacity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Owner: Omar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Deadline: 15:30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828800"/>
            <a:ext cx="1874519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1828800"/>
            <a:ext cx="73152" cy="1920240"/>
          </a:xfrm>
          <a:prstGeom prst="rect">
            <a:avLst/>
          </a:prstGeom>
          <a:solidFill>
            <a:srgbClr val="B1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1528" y="1975104"/>
            <a:ext cx="155447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42424"/>
                </a:solidFill>
              </a:defRPr>
            </a:pPr>
            <a:r>
              <a:t>Pricefloor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Owner: Lena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Deadline: 16:00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1828800"/>
            <a:ext cx="1874519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66360" y="1828800"/>
            <a:ext cx="73152" cy="1920240"/>
          </a:xfrm>
          <a:prstGeom prst="rect">
            <a:avLst/>
          </a:prstGeom>
          <a:solidFill>
            <a:srgbClr val="B1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1975104"/>
            <a:ext cx="155447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42424"/>
                </a:solidFill>
              </a:defRPr>
            </a:pPr>
            <a:r>
              <a:t>Freight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Owner: Rafael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Deadline: 16:00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1874519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1920240"/>
          </a:xfrm>
          <a:prstGeom prst="rect">
            <a:avLst/>
          </a:prstGeom>
          <a:solidFill>
            <a:srgbClr val="B1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3528" y="1975104"/>
            <a:ext cx="155447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42424"/>
                </a:solidFill>
              </a:defRPr>
            </a:pPr>
            <a:r>
              <a:t>Response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Owner: Maya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Deadline: 16:30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38360" y="1828800"/>
            <a:ext cx="1874519" cy="192024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38360" y="1828800"/>
            <a:ext cx="73152" cy="1920240"/>
          </a:xfrm>
          <a:prstGeom prst="rect">
            <a:avLst/>
          </a:prstGeom>
          <a:solidFill>
            <a:srgbClr val="B1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9528" y="1975104"/>
            <a:ext cx="155447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42424"/>
                </a:solidFill>
              </a:defRPr>
            </a:pPr>
            <a:r>
              <a:t>Approval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Owner: Zoe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Deadline: 17:00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Conditional yes: decisive, transparent, and commercially disciplined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329184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73152" cy="21945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75104"/>
            <a:ext cx="2971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42424"/>
                </a:solidFill>
              </a:defRPr>
            </a:pPr>
            <a:r>
              <a:t>Say yes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Accept the strategic order and position it as a premium connected-apparel launch package.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828800"/>
            <a:ext cx="329184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828800"/>
            <a:ext cx="73152" cy="21945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975104"/>
            <a:ext cx="2971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42424"/>
                </a:solidFill>
              </a:defRPr>
            </a:pPr>
            <a:r>
              <a:t>Name conditions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Lock capacity, NFC activation, pricefloor, and Singapore freight before final signature.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828800"/>
            <a:ext cx="329184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828800"/>
            <a:ext cx="73152" cy="2194560"/>
          </a:xfrm>
          <a:prstGeom prst="rect">
            <a:avLst/>
          </a:prstGeom>
          <a:solidFill>
            <a:srgbClr val="B1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75104"/>
            <a:ext cx="2971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42424"/>
                </a:solidFill>
              </a:defRPr>
            </a:pPr>
            <a:r>
              <a:t>Scale the flow</a:t>
            </a:r>
          </a:p>
          <a:p>
            <a:pPr>
              <a:defRPr sz="1150">
                <a:solidFill>
                  <a:srgbClr val="555555"/>
                </a:solidFill>
              </a:defRPr>
            </a:pPr>
            <a:r>
              <a:t>Turn the process into a Zava Order Desk Agent for recurring rush-order reviews.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